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88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941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各位老师好，我们是南开大学法尔孔队。我们的项目面向内存受限的大模型推理，重点研究怎样把 LLM Runtime 掌握的阶段和 Expert 语义接入操作系统的内存管理。下面我从模型级、阶段级和 Expert 级三个层次介绍我们的工作。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Linux 管理模型时，直接看到的是 mmap 地址、文件页、缺页和内存压力。但 LLM Runtime 其实还知道更多信息，例如当前处于 Prefill 还是 Decode、Router 选择了哪些 Expert、某个 Expert 什么时候真正第一次使用，以及什么时候结束。我们的核心思路就是把这些推理语义逐级转化成 OS 可以执行、也可以通过实际页面行为验证的内存决策。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整个系统分成三个粒度。模型级，我们根据模型规模、Sparse MoE 结构和实际内存约束决定是否执行 mmap populate；阶段级，我们根据 Prefill 和 Decode 的访问特点调整文件访问建议；进一步到 Expert 级，我们把 Router 选择映射成真实的 mmap slice 和 Memory Object，再在这些对象上执行预取、工作集和回收策略。底层统一通过 Page Fault、驻留、cgroup pressure 和延迟进行反馈。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首先是模型加载。我们发现，是否主动 populate 整个模型不能使用固定策略，因此增加了资源感知的 mmap 准入。系统读取 cgroup 或 MemAvailable，结合模型映射大小和 Sparse MoE 结构决定 DEFAULT、POPULATE 或 SKIP。在 12GiB cgroup 下，Auto 选择跳过强制 populate，相比强制 MAP_POPULATE，Wall Time 降低 34.1%，Major Fault 降低 21.7%，Decode P95 降低 11.1%，TPS 提升 13.95%。内存条件宽裕后，Auto 会重新回到默认路径。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接下来是阶段变化。模型映射和 Prefill 期间连续访问较多，我们保留 SEQUENTIAL advice；进入首次 Decode 前，对同一个文件描述关系一次性恢复 NORMAL。为了直接观察这个动作影响了哪些页面，我们利用 Expert 地址映射做了严格 Boundary Probe。三次交错重复中，Router 真正选中的 Expert 新载入页面始终是 5265 页，而未被 Router 选择的相邻 Expert 从平均 2246.7 页下降到 965 页，减少 57%。这说明减少的主要是跨 Expert 的额外页面载入。当前 20GiB、80-token 条件下端到端性能基本持平，因此这里强调的是 Page Cache 行为改善。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要做到刚才的观测，首先必须知道某个 Expert 在模型文件中到底对应哪段地址。我们读取真实 Router 结果得到 layer 和 expert，再通过 ExpertTensorRegistry 补上具体 Tensor，把它精确映射为 addr 和 nbytes。因此我们的 Memory Object 粒度是某一层、某个 Expert、某类权重 Tensor 对应的 mmap slice。在这个对象上，我们继续记录 demand、first-use 和 layer-end。真实运行中十万余次 demand 都完成了生命周期闭合，unmatched 和 invariant violation 都为零。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有了 Expert 对象之后，Router 的未来需求也可以进一步转化为页面 Hint。但是否需要执行，还要看当前资源状态。我们在 demand 后增加 value、pressure 和 stale gate，通过后才进入异步队列并调用 MADV_WILLNEED。16 到 19GiB 的扫描显示，17、18GiB 可以大量发 Hint，但 cgroup 尚未发生真实回收；继续收紧到 16GiB 后系统进入 Critical，十万余个请求全部被 gate 抑制。当前配置下没有观察到已经发生真实 reclaim、同时仍适合继续 Prefetch 的窗口。因此 Prefetch 保持为受控的可选动作。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我们也在同一套 Memory Object 上实现了语义工作集和回收。实验给出了一个很重要的边界：对象生命周期管理正确，并不代表逻辑工作集预算能够直接约束真实 Page Cache。当前 Working Set 策略带来了明显管理开销，DONTNEED 回收也产生了较多重入。因此我们的结论是，逻辑 Working Set 需要进一步结合实际驻留、Page Fault 和 readmission 反馈，当前这些回收策略保持关闭。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因此我们对不同机制分别验证不同层次的证据。mmap Admission 有端到端 A/B；Decode NORMAL 有明确的 Expert 页面驻留 A/B；Memory Object 有完整的需求和生命周期状态；Prefetch 与回收实验则帮助确定策略边界。同时，当前新增的 8 项 CTest 和 14 项 Trace Python Test 全部通过，保证关键状态机和分析链路能够闭合。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最终我们把项目收敛为三项贡献。第一，资源约束感知的模型映射准入，解决模型级决策；第二，推理阶段感知的文件预读控制，解决 Prefill 到 Decode 的访问模式变化；第三，面向 MoE Expert 的语义内存对象管理，把 Router 需求落实到真实 mmap slice。三个层次共同完成从模型级、阶段级到 Expert 级的语义接入。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最后说明公开基础和增量工作。工程上我们基于 llama.cpp 和 GGUF 的 mmap 推理路径；设计思想参考了经典 Working Set、应用控制文件缓存和 Informed Prefetching。ProMoE、MoE-Infinity 等工作也说明了 Expert 激活语义对预取和缓存的重要价值。我们的增量工作落在 Linux mmap 和 Page Cache 路径：把模型资源条件、推理阶段和真实 Router Expert 映射到操作系统页面控制，并通过 residency、fault、pressure 和 first-use 对这些动作进行实际验证。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105156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面向内存受限 LLM 推理的</a:t>
            </a:r>
            <a:endParaRPr lang="en-US" sz="3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语义感知内存管理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从资源感知 mmap 准入、阶段化 Page Cache 控制到 MoE Expert 内存对象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1520" y="2971800"/>
            <a:ext cx="2743200" cy="27432"/>
          </a:xfrm>
          <a:prstGeom prst="rect">
            <a:avLst/>
          </a:prstGeom>
          <a:solidFill>
            <a:srgbClr val="2EC4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3246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全国计算机系统能力大赛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操作系统设计赛 · 功能挑战赛道 · proj59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南开大学 · 法尔孔</a:t>
            </a:r>
            <a:endParaRPr lang="en-US" sz="1300" dirty="0"/>
          </a:p>
        </p:txBody>
      </p:sp>
      <p:sp>
        <p:nvSpPr>
          <p:cNvPr id="8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Runtime 知道“将访问什么”，OS 看到“访问了哪些页”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3749040" cy="274320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1155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Linux / Page Cache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mmap 地址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1984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Page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23682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Page Fault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27523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访问序列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31363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内存压力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937760" y="1005840"/>
            <a:ext cx="3749040" cy="2743200"/>
          </a:xfrm>
          <a:prstGeom prst="rect">
            <a:avLst/>
          </a:prstGeom>
          <a:solidFill>
            <a:srgbClr val="EBF2FA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20640" y="11155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Runtime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257800" y="1554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Prefill / Decode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257800" y="18836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Layer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257800" y="22128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Router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257800" y="25420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Expert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257800" y="28712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Tensor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257800" y="3200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first-use / layer-end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206240" y="2011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solidFill>
            <a:srgbClr val="1A3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将推理语义转化为 OS 可执行、可验证的内存管理决策。</a:t>
            </a:r>
            <a:endParaRPr lang="en-US" sz="1400" dirty="0"/>
          </a:p>
        </p:txBody>
      </p:sp>
      <p:sp>
        <p:nvSpPr>
          <p:cNvPr id="24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从模型级到 Expert 级的语义内存控制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900" dirty="0"/>
          </a:p>
        </p:txBody>
      </p:sp>
      <p:sp>
        <p:nvSpPr>
          <p:cNvPr id="29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574FCF12-D7F3-457F-8185-75EDBCD13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80" y="856273"/>
            <a:ext cx="6430840" cy="42872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资源约束感知的模型映射准入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3474720" cy="306324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097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Admission 机制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4447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模型 mmap 大小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7007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Sparse MoE 结构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195681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memory.current / memory.max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2128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MemAvailable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24688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fit ratio / headroom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194560" y="2706624"/>
            <a:ext cx="0" cy="265176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31520" y="2971800"/>
            <a:ext cx="2926080" cy="365760"/>
          </a:xfrm>
          <a:prstGeom prst="rect">
            <a:avLst/>
          </a:prstGeom>
          <a:solidFill>
            <a:srgbClr val="1A3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 Decision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194560" y="3337560"/>
            <a:ext cx="0" cy="228600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59436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DEFAULT  /  POPULATE  /  SKIP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206240" y="9601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GiB cgroup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206240" y="120700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 vs 强制 DEFAULT / MAP_POPULATE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206240" y="1508760"/>
            <a:ext cx="2148840" cy="914400"/>
          </a:xfrm>
          <a:prstGeom prst="rect">
            <a:avLst/>
          </a:prstGeom>
          <a:solidFill>
            <a:srgbClr val="E6FFFA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06240" y="158191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39E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↓34.1%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4206240" y="21031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Time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537960" y="1508760"/>
            <a:ext cx="2148840" cy="914400"/>
          </a:xfrm>
          <a:prstGeom prst="rect">
            <a:avLst/>
          </a:prstGeom>
          <a:solidFill>
            <a:srgbClr val="E6FFFA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37960" y="158191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39E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↓21.7%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6537960" y="21031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Fault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206240" y="2606040"/>
            <a:ext cx="2148840" cy="914400"/>
          </a:xfrm>
          <a:prstGeom prst="rect">
            <a:avLst/>
          </a:prstGeom>
          <a:solidFill>
            <a:srgbClr val="E6FFFA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206240" y="26791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39E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↓11.1%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4206240" y="32004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P95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537960" y="2606040"/>
            <a:ext cx="2148840" cy="914400"/>
          </a:xfrm>
          <a:prstGeom prst="rect">
            <a:avLst/>
          </a:prstGeom>
          <a:solidFill>
            <a:srgbClr val="E6FFFA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37960" y="26791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39E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↑13.95%</a:t>
            </a:r>
            <a:endParaRPr lang="en-US" sz="2400" dirty="0"/>
          </a:p>
        </p:txBody>
      </p:sp>
      <p:sp>
        <p:nvSpPr>
          <p:cNvPr id="31" name="Text 28"/>
          <p:cNvSpPr/>
          <p:nvPr/>
        </p:nvSpPr>
        <p:spPr>
          <a:xfrm>
            <a:off x="6537960" y="32004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7200" y="4114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15/20 GiB 完整边界见 Backup。</a:t>
            </a:r>
            <a:endParaRPr lang="en-US" sz="1000" dirty="0"/>
          </a:p>
        </p:txBody>
      </p:sp>
      <p:sp>
        <p:nvSpPr>
          <p:cNvPr id="33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 阶段调整文件预读，减少跨 Expert 过取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2286000" cy="438912"/>
          </a:xfrm>
          <a:prstGeom prst="rect">
            <a:avLst/>
          </a:prstGeom>
          <a:solidFill>
            <a:srgbClr val="EBF2FA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9601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Prefill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POSIX_FADV_SEQUENTIAL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880360" y="1179576"/>
            <a:ext cx="411480" cy="0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337560" y="960120"/>
            <a:ext cx="1371600" cy="438912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37560" y="960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 Decode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179576"/>
            <a:ext cx="411480" cy="0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212080" y="960120"/>
            <a:ext cx="2560320" cy="438912"/>
          </a:xfrm>
          <a:prstGeom prst="rect">
            <a:avLst/>
          </a:prstGeom>
          <a:solidFill>
            <a:srgbClr val="E6FFFA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12080" y="9601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39E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POSIX_FADV_NORMAL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14813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根据推理阶段一次性撤销显式 Sequential advice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1874520"/>
            <a:ext cx="4846320" cy="214884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1920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未路由相邻 Expert 新增驻留页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188720" y="2697480"/>
            <a:ext cx="914400" cy="1005840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2404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6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2246.7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14400" y="37216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017520" y="3271293"/>
            <a:ext cx="914400" cy="432027"/>
          </a:xfrm>
          <a:prstGeom prst="rect">
            <a:avLst/>
          </a:prstGeom>
          <a:solidFill>
            <a:srgbClr val="2EC4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0" y="2978685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9E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965.0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743200" y="37216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NORMAL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01168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6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57.0%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5577840" y="1874520"/>
            <a:ext cx="3108960" cy="1325880"/>
          </a:xfrm>
          <a:prstGeom prst="rect">
            <a:avLst/>
          </a:prstGeom>
          <a:solidFill>
            <a:srgbClr val="E6FFFA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15000" y="19476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9E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 选中 Expert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715000" y="2240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9E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5265  →  5265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5715000" y="2743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保持一致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577840" y="3291840"/>
            <a:ext cx="3108960" cy="73152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15000" y="33375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端到端性能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715000" y="3566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+0.30%  Decode −0.04%  TPS +0.06%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715000" y="37947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C06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噪声量级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solidFill>
            <a:srgbClr val="1A3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减少的是未路由相邻页，有用 Expert 页面载入保持一致。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57200" y="45720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GiB · skip-populate cold-page · N=3 interleaved</a:t>
            </a:r>
            <a:endParaRPr lang="en-US" sz="900" dirty="0"/>
          </a:p>
        </p:txBody>
      </p:sp>
      <p:sp>
        <p:nvSpPr>
          <p:cNvPr id="35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Router 选择转化为可管理的 Expert 内存对象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40080" y="1051560"/>
            <a:ext cx="2377440" cy="365760"/>
          </a:xfrm>
          <a:prstGeom prst="rect">
            <a:avLst/>
          </a:prstGeom>
          <a:solidFill>
            <a:srgbClr val="EBF2FA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051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828800" y="1417320"/>
            <a:ext cx="0" cy="146304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640080" y="1563624"/>
            <a:ext cx="2377440" cy="365760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5636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(layer, expert)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828800" y="1929384"/>
            <a:ext cx="0" cy="146304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40080" y="2075688"/>
            <a:ext cx="2377440" cy="365760"/>
          </a:xfrm>
          <a:prstGeom prst="rect">
            <a:avLst/>
          </a:prstGeom>
          <a:solidFill>
            <a:srgbClr val="EBF2FA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075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ExpertTensorRegistry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828800" y="2441448"/>
            <a:ext cx="0" cy="146304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40080" y="2587752"/>
            <a:ext cx="2377440" cy="365760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2587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(layer, expert, tensor)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828800" y="2953512"/>
            <a:ext cx="0" cy="146304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40080" y="3099816"/>
            <a:ext cx="2377440" cy="365760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30998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addr + nbytes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828800" y="3465576"/>
            <a:ext cx="0" cy="146304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40080" y="3611880"/>
            <a:ext cx="2377440" cy="365760"/>
          </a:xfrm>
          <a:prstGeom prst="rect">
            <a:avLst/>
          </a:prstGeom>
          <a:solidFill>
            <a:srgbClr val="E6FFFA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39E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Expert Memory Object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383280" y="1051560"/>
            <a:ext cx="5303520" cy="548640"/>
          </a:xfrm>
          <a:prstGeom prst="rect">
            <a:avLst/>
          </a:prstGeom>
          <a:solidFill>
            <a:srgbClr val="FFF4E6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383280" y="10515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6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 = 某层 × 某 Expert × 某类 Tensor 对应的 mmap slice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383280" y="166420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一个完整 Expert 不应画成天然的一整块连续物理内存。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840480" y="2011680"/>
            <a:ext cx="1371600" cy="384048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840480" y="2011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demand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212080" y="2203704"/>
            <a:ext cx="274320" cy="0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5486400" y="2011680"/>
            <a:ext cx="1371600" cy="384048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0" y="2011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first-use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858000" y="2203704"/>
            <a:ext cx="274320" cy="0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7132320" y="2011680"/>
            <a:ext cx="1371600" cy="384048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132320" y="2011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layer-end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3383280" y="2697480"/>
            <a:ext cx="1600200" cy="731520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383280" y="27432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102,186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3383280" y="31546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demands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166360" y="2697480"/>
            <a:ext cx="1600200" cy="731520"/>
          </a:xfrm>
          <a:prstGeom prst="rect">
            <a:avLst/>
          </a:prstGeom>
          <a:solidFill>
            <a:srgbClr val="F7FAFC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166360" y="27432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5166360" y="31546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unmatched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949440" y="2697480"/>
            <a:ext cx="1600200" cy="731520"/>
          </a:xfrm>
          <a:prstGeom prst="rect">
            <a:avLst/>
          </a:prstGeom>
          <a:solidFill>
            <a:srgbClr val="F7FAFC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49440" y="27432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6949440" y="31546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 violation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3383280" y="3611880"/>
            <a:ext cx="5303520" cy="457200"/>
          </a:xfrm>
          <a:prstGeom prst="rect">
            <a:avLst/>
          </a:prstGeom>
          <a:solidFill>
            <a:srgbClr val="EBF2FA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383280" y="36118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Expert Slice  →  mincore  →  Boundary Probe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3383280" y="41605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生命周期：pending → active → complete</a:t>
            </a:r>
            <a:endParaRPr lang="en-US" sz="1000" dirty="0"/>
          </a:p>
        </p:txBody>
      </p:sp>
      <p:sp>
        <p:nvSpPr>
          <p:cNvPr id="46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内存压力决定 Expert Prefetch 是否值得发出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3200400" cy="310896"/>
          </a:xfrm>
          <a:prstGeom prst="rect">
            <a:avLst/>
          </a:prstGeom>
          <a:solidFill>
            <a:srgbClr val="EBF2FA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058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 Demand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057400" y="1316736"/>
            <a:ext cx="0" cy="118872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57200" y="1435608"/>
            <a:ext cx="3200400" cy="310896"/>
          </a:xfrm>
          <a:prstGeom prst="rect">
            <a:avLst/>
          </a:prstGeom>
          <a:solidFill>
            <a:srgbClr val="EBF2FA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43560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 Object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057400" y="1746504"/>
            <a:ext cx="0" cy="118872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57200" y="1865376"/>
            <a:ext cx="3200400" cy="310896"/>
          </a:xfrm>
          <a:prstGeom prst="rect">
            <a:avLst/>
          </a:prstGeom>
          <a:solidFill>
            <a:srgbClr val="FFF4E6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18653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C06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 / Pressure / Stale Gate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057400" y="2176272"/>
            <a:ext cx="0" cy="118872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57200" y="2295144"/>
            <a:ext cx="3200400" cy="310896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2951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Accept / Reject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057400" y="2606040"/>
            <a:ext cx="0" cy="118872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57200" y="2724912"/>
            <a:ext cx="3200400" cy="310896"/>
          </a:xfrm>
          <a:prstGeom prst="rect">
            <a:avLst/>
          </a:prstGeom>
          <a:solidFill>
            <a:srgbClr val="EBF2FA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7249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Priority Queue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057400" y="3035808"/>
            <a:ext cx="0" cy="118872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57200" y="3154680"/>
            <a:ext cx="3200400" cy="310896"/>
          </a:xfrm>
          <a:prstGeom prst="rect">
            <a:avLst/>
          </a:prstGeom>
          <a:solidFill>
            <a:srgbClr val="EBF2FA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31546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→ MADV_WILLNEED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057400" y="3465576"/>
            <a:ext cx="0" cy="118872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457200" y="3584448"/>
            <a:ext cx="3200400" cy="310896"/>
          </a:xfrm>
          <a:prstGeom prst="rect">
            <a:avLst/>
          </a:prstGeom>
          <a:solidFill>
            <a:srgbClr val="EBF2FA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35844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first-use match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931920" y="9601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16–19 GiB 扫描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280160"/>
          <a:ext cx="4754880" cy="914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MemoryMax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Pressure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Hint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cgroup reclaim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 GiB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Moderate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39E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5,067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A64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 GiB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6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High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39E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102,172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A64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 GiB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6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High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39E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102,177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A64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 GiB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6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Critical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6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A64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3931920" y="3108960"/>
            <a:ext cx="4754880" cy="457200"/>
          </a:xfrm>
          <a:prstGeom prst="rect">
            <a:avLst/>
          </a:prstGeom>
          <a:solidFill>
            <a:srgbClr val="FFF4E6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02336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6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当前配置下，没有观察到“真实 reclaim + 仍适合 Prefetch”的交叠窗口。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3931920" y="3657600"/>
            <a:ext cx="4754880" cy="457200"/>
          </a:xfrm>
          <a:prstGeom prst="rect">
            <a:avLst/>
          </a:prstGeom>
          <a:solidFill>
            <a:srgbClr val="EBF2FA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023360" y="3657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 提供需求，压力和价值控制决定是否执行 OS Hint。</a:t>
            </a:r>
            <a:endParaRPr lang="en-US" sz="1000" dirty="0"/>
          </a:p>
        </p:txBody>
      </p:sp>
      <p:sp>
        <p:nvSpPr>
          <p:cNvPr id="32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逻辑工作集需要服从真实 Page Cache 行为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3657600" cy="228600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0789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 Object 状态闭环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14630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demand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171907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18470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first-use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2103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22311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working set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" y="248716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" y="26151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eviction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4360" y="287121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7240" y="29992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readmission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389120" y="10058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当前策略代价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389120" y="1353312"/>
            <a:ext cx="4297680" cy="868680"/>
          </a:xfrm>
          <a:prstGeom prst="rect">
            <a:avLst/>
          </a:prstGeom>
          <a:solidFill>
            <a:srgbClr val="FFF4E6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0" y="14264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6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Working Set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89120" y="16733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6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 +92.9%</a:t>
            </a:r>
            <a:endParaRPr lang="en-US" sz="2600" dirty="0"/>
          </a:p>
        </p:txBody>
      </p:sp>
      <p:sp>
        <p:nvSpPr>
          <p:cNvPr id="21" name="Shape 18"/>
          <p:cNvSpPr/>
          <p:nvPr/>
        </p:nvSpPr>
        <p:spPr>
          <a:xfrm>
            <a:off x="4389120" y="2359152"/>
            <a:ext cx="4297680" cy="868680"/>
          </a:xfrm>
          <a:prstGeom prst="rect">
            <a:avLst/>
          </a:prstGeom>
          <a:solidFill>
            <a:srgbClr val="FFF4E6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0" y="24323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6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DONTNEED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389120" y="26791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6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 +41.6%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solidFill>
            <a:srgbClr val="1A3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 Working Set Budget ≠ 物理 Page Cache Residency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57200" y="4069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需要结合 Residency · Page Fault · Readmission 反馈。</a:t>
            </a:r>
            <a:endParaRPr lang="en-US" sz="1200" dirty="0"/>
          </a:p>
        </p:txBody>
      </p:sp>
      <p:sp>
        <p:nvSpPr>
          <p:cNvPr id="27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从机制实现到系统行为，我们分别验证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7132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926080" y="7132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验证层次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0" y="7132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005840"/>
            <a:ext cx="8229600" cy="56692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005840"/>
            <a:ext cx="54864" cy="566928"/>
          </a:xfrm>
          <a:prstGeom prst="rect">
            <a:avLst/>
          </a:prstGeom>
          <a:solidFill>
            <a:srgbClr val="1A3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100584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mmap Admission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926080" y="10058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Wall / Fault / P95 / TPS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69280" y="10058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 A/B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1664208"/>
            <a:ext cx="8229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1664208"/>
            <a:ext cx="54864" cy="566928"/>
          </a:xfrm>
          <a:prstGeom prst="rect">
            <a:avLst/>
          </a:prstGeom>
          <a:solidFill>
            <a:srgbClr val="2EC4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166420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 NORMAL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926080" y="166420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Expert Residency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669280" y="16642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Cross-Expert Overfetch ↓57%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2322576"/>
            <a:ext cx="8229600" cy="56692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2322576"/>
            <a:ext cx="54864" cy="566928"/>
          </a:xfrm>
          <a:prstGeom prst="rect">
            <a:avLst/>
          </a:prstGeom>
          <a:solidFill>
            <a:srgbClr val="2EC4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232257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Expert Memory Object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926080" y="232257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Demand / First-use / Lifecycle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669280" y="232257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状态闭环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2980944"/>
            <a:ext cx="8229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2980944"/>
            <a:ext cx="54864" cy="566928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298094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Prefetch / Reclaim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926080" y="29809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Pressure / Hint / Readmission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669280" y="298094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8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确定策略边界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3685032"/>
            <a:ext cx="8229600" cy="548640"/>
          </a:xfrm>
          <a:prstGeom prst="rect">
            <a:avLst/>
          </a:prstGeom>
          <a:solidFill>
            <a:srgbClr val="E6FFFA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" y="3758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9E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Correctness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828800" y="375818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39E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CTest  8 / 8</a:t>
            </a:r>
            <a:r>
              <a:rPr lang="en-US" sz="1300" dirty="0">
                <a:solidFill>
                  <a:srgbClr val="000000"/>
                </a:solidFill>
              </a:rPr>
              <a:t>        </a:t>
            </a:r>
            <a:r>
              <a:rPr lang="en-US" sz="1300" b="1" dirty="0">
                <a:solidFill>
                  <a:srgbClr val="239E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Trace Tests  14 / 14</a:t>
            </a:r>
            <a:endParaRPr lang="en-US" sz="1300" dirty="0"/>
          </a:p>
        </p:txBody>
      </p:sp>
      <p:sp>
        <p:nvSpPr>
          <p:cNvPr id="32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从模型级到 Expert 级，让 OS 获得推理语义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31520" y="1143000"/>
            <a:ext cx="7680960" cy="777240"/>
          </a:xfrm>
          <a:prstGeom prst="rect">
            <a:avLst/>
          </a:prstGeom>
          <a:solidFill>
            <a:srgbClr val="EBF2FA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1430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554480" y="1234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模型级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554480" y="15087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资源约束感知的模型映射准入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" y="2121408"/>
            <a:ext cx="7680960" cy="777240"/>
          </a:xfrm>
          <a:prstGeom prst="rect">
            <a:avLst/>
          </a:prstGeom>
          <a:solidFill>
            <a:srgbClr val="E6FFFA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121408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554480" y="22128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阶段级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554480" y="24871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推理阶段感知的文件预读控制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31520" y="3099816"/>
            <a:ext cx="7680960" cy="777240"/>
          </a:xfrm>
          <a:prstGeom prst="rect">
            <a:avLst/>
          </a:prstGeom>
          <a:solidFill>
            <a:srgbClr val="FFF4E6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3099816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1554480" y="31912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8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Expert 级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554480" y="34655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MoE Expert 的语义内存对象管理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solidFill>
            <a:srgbClr val="1A3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模型级 → 阶段级 → Expert 级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逐级把 LLM Runtime 语义接入 Linux 内存管理</a:t>
            </a:r>
            <a:endParaRPr lang="en-US" sz="1200" dirty="0"/>
          </a:p>
        </p:txBody>
      </p:sp>
      <p:sp>
        <p:nvSpPr>
          <p:cNvPr id="21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公开基础、相关工作与本项目增量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3931920" cy="269748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033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公开基础与思想来源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344168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llama.cpp / GGUF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154533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推理引擎与 mmap 模型加载基础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1764792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Denning, Working Set Model, 1968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19659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工作集与局部性思想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2185416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Cao, Felten &amp; Li, 1994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23865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应用语义参与文件缓存决策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" y="260604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Patterson et al., SOSP 1995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" y="28072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应用知识参与 prefetch / caching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0080" y="3026664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ProMoE / MoE-Infinity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" y="32278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 Expert 激活语义进行专家 prefetch / caching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754880" y="960120"/>
            <a:ext cx="3931920" cy="2697480"/>
          </a:xfrm>
          <a:prstGeom prst="rect">
            <a:avLst/>
          </a:prstGeom>
          <a:solidFill>
            <a:srgbClr val="EBF2FA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92040" y="1033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本项目增量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937760" y="13807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资源与阶段语义进入 mmap / Page Cache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937760" y="1645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模型大小、cgroup 条件、Prefill / Decode 直接驱动 mmap/fadvise 决策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937760" y="20665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 → GGUF Expert Slice → Memory Object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93776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把真实 Expert 选择映射成可管理的 mmap 对象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937760" y="27523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 页面行为直接反馈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93776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mincore residency + Page Fault + cgroup pressure + first-use + readmission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57200" y="3794760"/>
            <a:ext cx="8229600" cy="347472"/>
          </a:xfrm>
          <a:prstGeom prst="rect">
            <a:avLst/>
          </a:prstGeom>
          <a:solidFill>
            <a:srgbClr val="1A3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3794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本项目的实现路径落在 llama.cpp / GGUF mmap 与 Linux Page Cache 控制面。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4224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ggml-org, llama.cpp.  [2] P. J. Denning, The Working Set Model for Program Behavior, CACM, 1968.  [3] P. Cao, E. W. Felten, K. Li, Application-Controlled File Caching Policies, 1994.  [4] R. H. Patterson et al., Informed Prefetching and Caching, SOSP, 1995.  [5] ProMoE, 2024; MoE-Infinity, 2024/2025.</a:t>
            </a:r>
            <a:endParaRPr lang="en-US" sz="800" dirty="0"/>
          </a:p>
        </p:txBody>
      </p:sp>
      <p:sp>
        <p:nvSpPr>
          <p:cNvPr id="29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1258</Words>
  <Application>Microsoft Office PowerPoint</Application>
  <PresentationFormat>全屏显示(16:9)</PresentationFormat>
  <Paragraphs>226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面向内存受限 LLM 推理的语义感知内存管理</dc:title>
  <dc:subject>PptxGenJS Presentation</dc:subject>
  <dc:creator>南开大学 法尔孔</dc:creator>
  <cp:lastModifiedBy>zi'heng</cp:lastModifiedBy>
  <cp:revision>2</cp:revision>
  <dcterms:created xsi:type="dcterms:W3CDTF">2026-08-17T07:37:26Z</dcterms:created>
  <dcterms:modified xsi:type="dcterms:W3CDTF">2026-08-17T08:57:23Z</dcterms:modified>
</cp:coreProperties>
</file>